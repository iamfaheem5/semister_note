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7" r:id="rId2"/>
    <p:sldId id="27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6" r:id="rId14"/>
    <p:sldId id="279" r:id="rId15"/>
    <p:sldId id="280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99"/>
    <a:srgbClr val="0066CC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1A4BA-B9A3-8C46-8276-B545066FD365}" type="datetimeFigureOut">
              <a:rPr lang="en-US" smtClean="0"/>
              <a:t>6/10/2020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5F2D-3DB6-DB48-A9AE-F4F7CDCE7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907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1A4BA-B9A3-8C46-8276-B545066FD365}" type="datetimeFigureOut">
              <a:rPr lang="en-US" smtClean="0"/>
              <a:t>6/10/2020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5F2D-3DB6-DB48-A9AE-F4F7CDCE7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859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1A4BA-B9A3-8C46-8276-B545066FD365}" type="datetimeFigureOut">
              <a:rPr lang="en-US" smtClean="0"/>
              <a:t>6/10/2020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5F2D-3DB6-DB48-A9AE-F4F7CDCE7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26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1A4BA-B9A3-8C46-8276-B545066FD365}" type="datetimeFigureOut">
              <a:rPr lang="en-US" smtClean="0"/>
              <a:t>6/10/2020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5F2D-3DB6-DB48-A9AE-F4F7CDCE7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110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1A4BA-B9A3-8C46-8276-B545066FD365}" type="datetimeFigureOut">
              <a:rPr lang="en-US" smtClean="0"/>
              <a:t>6/10/2020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5F2D-3DB6-DB48-A9AE-F4F7CDCE7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423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1A4BA-B9A3-8C46-8276-B545066FD365}" type="datetimeFigureOut">
              <a:rPr lang="en-US" smtClean="0"/>
              <a:t>6/10/2020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5F2D-3DB6-DB48-A9AE-F4F7CDCE7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553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1A4BA-B9A3-8C46-8276-B545066FD365}" type="datetimeFigureOut">
              <a:rPr lang="en-US" smtClean="0"/>
              <a:t>6/10/2020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5F2D-3DB6-DB48-A9AE-F4F7CDCE7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608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1A4BA-B9A3-8C46-8276-B545066FD365}" type="datetimeFigureOut">
              <a:rPr lang="en-US" smtClean="0"/>
              <a:t>6/10/2020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5F2D-3DB6-DB48-A9AE-F4F7CDCE7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496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1A4BA-B9A3-8C46-8276-B545066FD365}" type="datetimeFigureOut">
              <a:rPr lang="en-US" smtClean="0"/>
              <a:t>6/10/2020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5F2D-3DB6-DB48-A9AE-F4F7CDCE7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625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1A4BA-B9A3-8C46-8276-B545066FD365}" type="datetimeFigureOut">
              <a:rPr lang="en-US" smtClean="0"/>
              <a:t>6/10/2020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5F2D-3DB6-DB48-A9AE-F4F7CDCE7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953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1A4BA-B9A3-8C46-8276-B545066FD365}" type="datetimeFigureOut">
              <a:rPr lang="en-US" smtClean="0"/>
              <a:t>6/10/2020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5F2D-3DB6-DB48-A9AE-F4F7CDCE78A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4211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1A4BA-B9A3-8C46-8276-B545066FD365}" type="datetimeFigureOut">
              <a:rPr lang="en-US" smtClean="0"/>
              <a:t>6/10/2020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5F2D-3DB6-DB48-A9AE-F4F7CDCE7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5711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1A4BA-B9A3-8C46-8276-B545066FD365}" type="datetimeFigureOut">
              <a:rPr lang="en-US" smtClean="0"/>
              <a:t>6/10/2020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5F2D-3DB6-DB48-A9AE-F4F7CDCE78A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999683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1A4BA-B9A3-8C46-8276-B545066FD365}" type="datetimeFigureOut">
              <a:rPr lang="en-US" smtClean="0"/>
              <a:t>6/10/2020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5F2D-3DB6-DB48-A9AE-F4F7CDCE7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8875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1A4BA-B9A3-8C46-8276-B545066FD365}" type="datetimeFigureOut">
              <a:rPr lang="en-US" smtClean="0"/>
              <a:t>6/10/2020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5F2D-3DB6-DB48-A9AE-F4F7CDCE7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9722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1A4BA-B9A3-8C46-8276-B545066FD365}" type="datetimeFigureOut">
              <a:rPr lang="en-US" smtClean="0"/>
              <a:t>6/10/2020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5F2D-3DB6-DB48-A9AE-F4F7CDCE7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866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B1A4BA-B9A3-8C46-8276-B545066FD365}" type="datetimeFigureOut">
              <a:rPr lang="en-US" smtClean="0"/>
              <a:t>6/10/2020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4E95F2D-3DB6-DB48-A9AE-F4F7CDCE7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613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10B66-7000-6949-A77A-56D58717F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8148" y="146762"/>
            <a:ext cx="5330588" cy="1026946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CHEMISTRY-I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DF61D-22A0-6E46-B50E-FA585A423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911" y="1323833"/>
            <a:ext cx="10807890" cy="55341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5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ELECTROCHEMISTRY</a:t>
            </a:r>
          </a:p>
          <a:p>
            <a:pPr marL="0" indent="0" algn="r">
              <a:buNone/>
            </a:pPr>
            <a:r>
              <a:rPr lang="en-US" sz="54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Mrinal</a:t>
            </a:r>
            <a:r>
              <a:rPr lang="en-US" sz="54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Kanti</a:t>
            </a:r>
            <a:r>
              <a:rPr lang="en-US" sz="54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Roy</a:t>
            </a:r>
          </a:p>
          <a:p>
            <a:pPr marL="0" indent="0" algn="r">
              <a:buNone/>
            </a:pPr>
            <a:r>
              <a:rPr lang="en-US" sz="54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Lecturer (Chemistry)</a:t>
            </a:r>
          </a:p>
          <a:p>
            <a:pPr marL="0" indent="0" algn="r">
              <a:buNone/>
            </a:pPr>
            <a:r>
              <a:rPr lang="en-US" sz="54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54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Mymensingh</a:t>
            </a:r>
            <a:r>
              <a:rPr lang="en-US" sz="54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Engineering College</a:t>
            </a:r>
            <a:endParaRPr lang="en-US" sz="5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5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8956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859E1-AF40-E347-89DF-DED0FC2F8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6006" y="459474"/>
            <a:ext cx="2939323" cy="79612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38EDC-2274-1740-9234-39B75E62B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0" y="1692323"/>
            <a:ext cx="8971633" cy="433539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Electrolytes, Electrolysis,&amp; Electrolytic cell</a:t>
            </a:r>
          </a:p>
          <a:p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Faraday’s Law</a:t>
            </a:r>
          </a:p>
          <a:p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Electrochemical cell</a:t>
            </a:r>
          </a:p>
          <a:p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Electrode Potential</a:t>
            </a:r>
          </a:p>
          <a:p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Electromotive Force ( EMF)</a:t>
            </a:r>
          </a:p>
          <a:p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Nernst Equation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3957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B56D5-902C-D346-8CE0-C98432D03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672" y="368489"/>
            <a:ext cx="9362364" cy="61960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ELECTROLYTES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Electrolytes are electrovalent substances that form ions in solution which conduct an electric current. 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Sodium chloride, copper (II)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sulphate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potassium nitrate.</a:t>
            </a:r>
          </a:p>
          <a:p>
            <a:pPr marL="0" indent="0">
              <a:buNone/>
            </a:pP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ELECTROLYSIS</a:t>
            </a:r>
            <a:r>
              <a:rPr lang="en-US" sz="4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phenomenon of decomposition of an electrolyte by passing electric current through its solution is called Electrolysis 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lyo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breaking).</a:t>
            </a:r>
          </a:p>
          <a:p>
            <a:pPr marL="0" indent="0">
              <a:buNone/>
            </a:pP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ELECTROLYTIC CELL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of electrolysis is carried in an apparatus called the Electrolytic cell. </a:t>
            </a:r>
          </a:p>
        </p:txBody>
      </p:sp>
    </p:spTree>
    <p:extLst>
      <p:ext uri="{BB962C8B-B14F-4D97-AF65-F5344CB8AC3E}">
        <p14:creationId xmlns:p14="http://schemas.microsoft.com/office/powerpoint/2010/main" val="4045543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84B41-06CE-6D4D-8810-56267A59F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272" y="295702"/>
            <a:ext cx="4044791" cy="86435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ELECTRODE</a:t>
            </a:r>
            <a:b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5A25F-1443-B34F-B1BC-AD9373F4F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2" y="1546439"/>
            <a:ext cx="9640375" cy="48407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electrodes are needed to construct a electrochemical cell. 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Anode &amp; (ii) Cathode</a:t>
            </a:r>
          </a:p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anode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(1) Oxidation reaction occurred. (2) Electrons of anion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of solution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to metallic rod (Anode)</a:t>
            </a:r>
          </a:p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cathode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(1) Reduction reaction occurred. (2)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Cations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solution accept electrons of metallic rod (Cathode). </a:t>
            </a:r>
          </a:p>
          <a:p>
            <a:pPr marL="0" indent="0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053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DC8D3-1CBE-914B-B2EA-10D937081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5221" y="0"/>
            <a:ext cx="1219705" cy="932597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Fig-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8CA1E1D9-72AA-3440-BB75-9906FECA66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967" y="1246081"/>
            <a:ext cx="9116705" cy="5516384"/>
          </a:xfrm>
        </p:spPr>
      </p:pic>
      <p:sp>
        <p:nvSpPr>
          <p:cNvPr id="5" name="TextBox 4"/>
          <p:cNvSpPr txBox="1"/>
          <p:nvPr/>
        </p:nvSpPr>
        <p:spPr>
          <a:xfrm>
            <a:off x="504967" y="6365838"/>
            <a:ext cx="9116705" cy="492162"/>
          </a:xfrm>
          <a:prstGeom prst="rect">
            <a:avLst/>
          </a:prstGeom>
          <a:solidFill>
            <a:srgbClr val="336699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848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D0BB1-C727-BE44-8C1A-E9591A9F3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3817"/>
            <a:ext cx="10541125" cy="74152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FARADAY’S LAWS OF ELECTROLYSIS</a:t>
            </a:r>
            <a:b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FBDEA-459B-7647-8D6A-C61BF79AD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176" y="1596788"/>
            <a:ext cx="10515600" cy="45856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Law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amount of a given product liberated at an electrode during electrolysis is directly proportional to the quantity of electricity which passes through the electrolyte solution.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 Law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same quantity of electricity passes through solutions of different electrolytes, the amounts of the substances liberated at the electrodes are directly proportional to their chemical equivalents.</a:t>
            </a:r>
          </a:p>
          <a:p>
            <a:pPr marL="0" indent="0">
              <a:buNone/>
            </a:pP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060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D9045-3C2A-544C-826A-E3ED7E38B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2872"/>
            <a:ext cx="12192000" cy="823415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Electrochemical equivalent in light of First Law</a:t>
            </a:r>
            <a:b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76B06-9629-D443-9856-07EA5D9D3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660" y="1137007"/>
            <a:ext cx="9908274" cy="56049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m is the mass of substance (in grams) deposited on electrode by passing Q coulombs of electricity, then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∝ Q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(First Law)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know that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= I × t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I is the strength of current in amperes and t is the time in second for which the current has been passed.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∝ I × t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m = Z × I × t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Z is the constant known as the Electrochemical equivalent of the substance (electrolyte).     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= 1 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mpere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1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second, then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Z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the electrochemical equivalent is the amount of a substance deposited by 1 ampere current passing for 1 second (i.e., one coulomb).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880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2ADB4-56AF-1942-BB14-4A356E4E0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477" y="350293"/>
            <a:ext cx="9940625" cy="864358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AND WEAK ELECTROLYTES</a:t>
            </a:r>
            <a:br>
              <a:rPr lang="en-US" sz="4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F5810-E7B2-1D4A-A0DE-0B0E90B7D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289" y="1760561"/>
            <a:ext cx="10515600" cy="47903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Electrolytes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The strong acids e.g.,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HCl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HNO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HClO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HBr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HI.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The strong bases e.g.,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NaOH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KOH,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(OH)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Mg (OH)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The salts. Practically all salts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NaCl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KCl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are strong electrolytes.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Weak Electrolytes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The weak acids : All organic acids such as acetic acid, oxalic acid,H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The weak bases : Most organic bases e.g., alkyl amines (C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Salts. A few salts such as mercury (II) chloride and lead (II) acetate </a:t>
            </a:r>
          </a:p>
        </p:txBody>
      </p:sp>
    </p:spTree>
    <p:extLst>
      <p:ext uri="{BB962C8B-B14F-4D97-AF65-F5344CB8AC3E}">
        <p14:creationId xmlns:p14="http://schemas.microsoft.com/office/powerpoint/2010/main" val="4063696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6C93A-DAD9-D04C-AC34-5F083DBDB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00167"/>
            <a:ext cx="8596668" cy="878006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ELECTROCHEMICAL CELL</a:t>
            </a:r>
            <a:b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200BC-C8EC-954F-8FA7-19D1AAB0F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014" y="1259837"/>
            <a:ext cx="9654022" cy="53047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device for producing an electrical current from a chemical reaction (redox reaction) is called an electrochemical cell.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Voltaic Cells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Voltaic cell,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also known as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galvanic cell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one in which electrical current is generated by a spontaneous redox reaction. A simple voltaic cell is shown in Fig.  Here the spontaneous reaction of zinc metal with an aqueous solution of copper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sulphate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used. Copper rod is dipped in copper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sulphate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solution as cathode in a container; in another container zinc rod is dipped in zinc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sulphate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solution as anode. A U shaped tube full of inert electrolyte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KCl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solution is dipped into the two solutions to make contact with the solutions of the containers. Now, if the two electrodes are connected with wire the following oxidation-reduction.</a:t>
            </a:r>
          </a:p>
        </p:txBody>
      </p:sp>
    </p:spTree>
    <p:extLst>
      <p:ext uri="{BB962C8B-B14F-4D97-AF65-F5344CB8AC3E}">
        <p14:creationId xmlns:p14="http://schemas.microsoft.com/office/powerpoint/2010/main" val="1535805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AAF8E-85E4-D448-BE7F-AA0177A6C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9341" y="295702"/>
            <a:ext cx="1233353" cy="837063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Fig-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5C245356-DD9A-ED4C-9DBF-5E51F6E541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526" y="1558048"/>
            <a:ext cx="7410734" cy="5033821"/>
          </a:xfrm>
        </p:spPr>
      </p:pic>
    </p:spTree>
    <p:extLst>
      <p:ext uri="{BB962C8B-B14F-4D97-AF65-F5344CB8AC3E}">
        <p14:creationId xmlns:p14="http://schemas.microsoft.com/office/powerpoint/2010/main" val="3933913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6351E-EC24-0446-9C21-B42CC516D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812" y="691486"/>
            <a:ext cx="8166415" cy="782472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OF SALT BRIDGE</a:t>
            </a:r>
            <a:b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2016D-4249-C742-92AC-441482649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432" y="2215180"/>
            <a:ext cx="9539785" cy="31074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1.Permits the passage of electric current internally.</a:t>
            </a:r>
          </a:p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2.Maintain the electric neutrality of the solution.</a:t>
            </a:r>
          </a:p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3.Prevents intermixing of the solutions.</a:t>
            </a:r>
          </a:p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4.It does not take part in cell reaction.</a:t>
            </a:r>
          </a:p>
        </p:txBody>
      </p:sp>
    </p:spTree>
    <p:extLst>
      <p:ext uri="{BB962C8B-B14F-4D97-AF65-F5344CB8AC3E}">
        <p14:creationId xmlns:p14="http://schemas.microsoft.com/office/powerpoint/2010/main" val="1841018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A2B2B-F321-664D-94EF-15AB1FC33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785" y="218365"/>
            <a:ext cx="8878217" cy="64826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i="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Electrode Potential </a:t>
            </a:r>
          </a:p>
          <a:p>
            <a:pPr marL="0" indent="0">
              <a:buNone/>
            </a:pPr>
            <a:r>
              <a:rPr lang="en-US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potential difference develops between the electrode and the electrolyte which is called electrode potential.</a:t>
            </a:r>
            <a:br>
              <a:rPr lang="en-US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i="0" dirty="0">
                <a:solidFill>
                  <a:srgbClr val="99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i="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 electrode potential</a:t>
            </a:r>
            <a:br>
              <a:rPr lang="en-US" sz="2800" b="0" i="0" dirty="0">
                <a:solidFill>
                  <a:srgbClr val="0066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the concentrations of all the species involved in a half-cell is unity (concentration is 1M ) and temperature is 298 K, the electrode potential is known as standard electrode potential.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120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93C79-D158-D849-ACFE-31EF4E84E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92" y="268406"/>
            <a:ext cx="11514666" cy="837063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Fig: The standard hydrogen electrode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E650277F-25B2-DB4F-AE5B-4D4AEC9DEE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743" y="1364776"/>
            <a:ext cx="6468242" cy="5308979"/>
          </a:xfrm>
        </p:spPr>
      </p:pic>
    </p:spTree>
    <p:extLst>
      <p:ext uri="{BB962C8B-B14F-4D97-AF65-F5344CB8AC3E}">
        <p14:creationId xmlns:p14="http://schemas.microsoft.com/office/powerpoint/2010/main" val="862361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24D0E-62E5-DF4A-ACDB-E855B4BD6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23" y="404883"/>
            <a:ext cx="10363705" cy="809768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Electromotive force of cell or cell voltage  </a:t>
            </a:r>
            <a:endParaRPr lang="en-US" sz="4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FE7B4-4870-604E-BD72-A861DA58D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52" y="1710212"/>
            <a:ext cx="10544713" cy="41446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 difference  in  the  electrode  potentials  of  the  two  electrodes  of  the  cell  is  termed  as  electromotive  force[EMF]  or  cell  voltage.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8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cell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= 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8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(cathode  )    – 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8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(anode)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8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cell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= 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8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oxi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.(anode)           –   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8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oxi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.(Cathode)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8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cell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= 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8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oxi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.(anode)           + 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8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(cathode)</a:t>
            </a:r>
          </a:p>
        </p:txBody>
      </p:sp>
    </p:spTree>
    <p:extLst>
      <p:ext uri="{BB962C8B-B14F-4D97-AF65-F5344CB8AC3E}">
        <p14:creationId xmlns:p14="http://schemas.microsoft.com/office/powerpoint/2010/main" val="1081679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FD222-EF09-6646-8869-EDC0B6DA2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970" y="359084"/>
            <a:ext cx="8685030" cy="542756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  whether  the  following  reaction  can  occur  under  standard  conditions  or  not.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aq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  +  Br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(l) → Sn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4+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aq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  +  2Br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aq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E°Sn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4+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/Sn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  +  0.15,  E°Br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/Br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=  1.06V.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o l :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8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cell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=  E</a:t>
            </a:r>
            <a:r>
              <a:rPr lang="en-US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(cathode) 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  –  E</a:t>
            </a:r>
            <a:r>
              <a:rPr lang="en-US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(anode)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  1.06  –  0.15  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=  0.91V</a:t>
            </a:r>
          </a:p>
          <a:p>
            <a:pPr marL="0" indent="0">
              <a:buNone/>
            </a:pP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cell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out  be  positive,  this  means  that  the  reaction  can  occur..</a:t>
            </a:r>
          </a:p>
        </p:txBody>
      </p:sp>
    </p:spTree>
    <p:extLst>
      <p:ext uri="{BB962C8B-B14F-4D97-AF65-F5344CB8AC3E}">
        <p14:creationId xmlns:p14="http://schemas.microsoft.com/office/powerpoint/2010/main" val="666634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44777496-B0EC-6A49-A0A0-AC43D6B059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786" y="1"/>
            <a:ext cx="8884692" cy="6714698"/>
          </a:xfrm>
        </p:spPr>
      </p:pic>
      <p:sp>
        <p:nvSpPr>
          <p:cNvPr id="5" name="TextBox 4"/>
          <p:cNvSpPr txBox="1"/>
          <p:nvPr/>
        </p:nvSpPr>
        <p:spPr>
          <a:xfrm>
            <a:off x="7410734" y="6346209"/>
            <a:ext cx="166502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90778" y="177840"/>
            <a:ext cx="157435" cy="70968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90778" y="0"/>
            <a:ext cx="81592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48278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58</TotalTime>
  <Words>720</Words>
  <Application>Microsoft Office PowerPoint</Application>
  <PresentationFormat>Widescreen</PresentationFormat>
  <Paragraphs>74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Facet</vt:lpstr>
      <vt:lpstr>CHEMISTRY-I</vt:lpstr>
      <vt:lpstr>CONTENT</vt:lpstr>
      <vt:lpstr>PowerPoint Presentation</vt:lpstr>
      <vt:lpstr>ELECTRODE </vt:lpstr>
      <vt:lpstr>Fig-</vt:lpstr>
      <vt:lpstr>FARADAY’S LAWS OF ELECTROLYSIS </vt:lpstr>
      <vt:lpstr>Definition of Electrochemical equivalent in light of First Law </vt:lpstr>
      <vt:lpstr>STRONG AND WEAK ELECTROLYTES </vt:lpstr>
      <vt:lpstr>ELECTROCHEMICAL CELL </vt:lpstr>
      <vt:lpstr>Fig-</vt:lpstr>
      <vt:lpstr>FUNCTION OF SALT BRIDGE </vt:lpstr>
      <vt:lpstr>PowerPoint Presentation</vt:lpstr>
      <vt:lpstr>Fig: The standard hydrogen electrode</vt:lpstr>
      <vt:lpstr>Electromotive force of cell or cell voltage 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mkroy3033@gmail.com</dc:creator>
  <cp:lastModifiedBy>mkroy3033@gmail.com</cp:lastModifiedBy>
  <cp:revision>41</cp:revision>
  <dcterms:created xsi:type="dcterms:W3CDTF">2020-04-10T04:55:22Z</dcterms:created>
  <dcterms:modified xsi:type="dcterms:W3CDTF">2020-06-10T04:55:08Z</dcterms:modified>
</cp:coreProperties>
</file>